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Duración sugerida: 35–45 minutos. Pregunta al grupo qué tarea les cuesta más. Los ejercicios son educativos y no generan pedidos reales.</a:t>
            </a:r>
          </a:p>
          <a:p>
            <a:r>
              <a:t>Referencia: página 1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 el objetivo: completar una visita y reconocer cuándo quedó gestionada.</a:t>
            </a:r>
          </a:p>
          <a:p>
            <a:r>
              <a:t>Referencia: página 2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material indica cambio de contraseña cada tres meses. Validar la política vigente con TI antes de impartir la capacitación.</a:t>
            </a:r>
          </a:p>
          <a:p>
            <a:r>
              <a:t>Referencia: página 4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Pide a una persona que explique dónde revisaría el estado del dispositivo. No mostrar credenciales en pantalla.</a:t>
            </a:r>
          </a:p>
          <a:p>
            <a:r>
              <a:t>Referencia: página 3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Confirma la ruta antes de descargar. El material menciona un aviso al abrir un cliente del listado «Todos», pero no especifica su contenido; evitar inventarlo.</a:t>
            </a:r>
          </a:p>
          <a:p>
            <a:r>
              <a:t>Referencia: página 5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Actividad: cada participante comprueba los cuatro puntos. Esta lista no consulta el estado real del dispositivo.</a:t>
            </a:r>
          </a:p>
          <a:p>
            <a:r>
              <a:t>Referencia: página 5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Pide que identifiquen qué entrega o cliente revisarían primero. No confundir tendencia con resultado confirmado.</a:t>
            </a:r>
          </a:p>
          <a:p>
            <a:r>
              <a:t>Referencia: página 6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compras del mes mostradas no incluyen Order Entry / Call Center, según el material. Explica que «sin compra» y «no gestionado» no significan lo mismo.</a:t>
            </a:r>
          </a:p>
          <a:p>
            <a:r>
              <a:t>Referencia: página 7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material muestra NPS satisfecho, neutro e insatisfecho. La dirección permite redireccionamiento. Los iconos exactos deben revisarse en las capturas originales.</a:t>
            </a:r>
          </a:p>
          <a:p>
            <a:r>
              <a:t>Referencia: página 9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campana indica misiones pendientes. Pide un ejemplo de la acción que harían con un cliente sin compra.</a:t>
            </a:r>
          </a:p>
          <a:p>
            <a:r>
              <a:t>Referencia: página 10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Abre la captura original y pide identificar un producto que aportarían al pedido. No inventar porcentajes ni coberturas.</a:t>
            </a:r>
          </a:p>
          <a:p>
            <a:r>
              <a:t>Referencia: página 11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Actividad: «¿Qué repondrías primero y qué complemento ofrecerías?». El sugerido es apoyo para la venta, no una confirmación automática.</a:t>
            </a:r>
          </a:p>
          <a:p>
            <a:r>
              <a:t>Referencia: página 21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captura de vías de pago está en la página 13 del original. Validar la vigencia de descuentos y condiciones con el equipo responsable.</a:t>
            </a:r>
          </a:p>
          <a:p>
            <a:r>
              <a:t>Referencia: página 12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material indica un mínimo de $30.000 por fecha de entrega para congelados y no congelados. Validar vigencia y aplicación comercial. Un pedido ingresado por Mi Market y no validado por el cliente es análogo, según el PDF.</a:t>
            </a:r>
          </a:p>
          <a:p>
            <a:r>
              <a:t>Referencia: página 20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 que el grupo responda y explique el criterio antes de mostrar la solución.</a:t>
            </a:r>
          </a:p>
          <a:p>
            <a:r>
              <a:t>Respuesta: Falta la confirmación del cliente en Mi Andina. Según el material, sin esa validación el pedido es análogo.</a:t>
            </a:r>
          </a:p>
          <a:p>
            <a:r>
              <a:t>Referencia: página 20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cliente del día se considera gestionado si tiene pedido o motivo de no venta ingresado por Mi Market. La barra de gestionados refleja el avance.</a:t>
            </a:r>
          </a:p>
          <a:p>
            <a:r>
              <a:t>Referencia: página 19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condición de cancelación se conserva literalmente del PDF: «no se hayan cuotificado». Confirmar su significado operativo con el responsable; no sustituir por «no despachados».</a:t>
            </a:r>
          </a:p>
          <a:p>
            <a:r>
              <a:t>Referencia: página 16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Retiro: crear oferta asociada al cliente → aprobación de jefatura en SAP → coordinadora crea solicitud de retiro en SAP. El PDF indica gris para clientes censados. EDF = equipos de frío.</a:t>
            </a:r>
          </a:p>
          <a:p>
            <a:r>
              <a:t>Referencia: página 15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original indica cuatro tipos de requerimiento, pero no los enumera en el texto. Revisar los tipos vigentes en la aplicación antes de enseñarlos.</a:t>
            </a:r>
          </a:p>
          <a:p>
            <a:r>
              <a:t>Referencia: página 18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Pide justificar la respuesta. No extender la lista offline a funciones que el material no incluye.</a:t>
            </a:r>
          </a:p>
          <a:p>
            <a:r>
              <a:t>Respuesta: El material incluye el registro de motivos de no venta sin conexión. También permite acceso biométrico, cartera, información básica y programación de entrega.</a:t>
            </a:r>
          </a:p>
          <a:p>
            <a:r>
              <a:t>Referencia: página 23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descarga previa es parte de la preparación del día. No prometer toma o confirmación de pedidos offline: no están listadas en el PDF.</a:t>
            </a:r>
          </a:p>
          <a:p>
            <a:r>
              <a:t>Referencia: página 23 del PDF original. Ver anexo de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cada participante explica qué hará distinto en su próxima ruta. Repasa las preguntas que quedaron pendientes y valida con el equipo las reglas comerciales vigentes.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del material original. Usar como apoyo visual; puede contener datos visibles del documento fuente. La interacción y los ejercicios están en 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BIENVENIDA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Cada visita, una oportunidad.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Mi Market · Capacitación para vendedores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Prepara tu ruta con información actualizada.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Detecta oportunidades en cada cliente.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Registra, confirma y da seguimiento.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TU RECORRIDO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De la preparación al seguimiento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Una ruta de aprendizaje conectada con tu día.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01 · Preparar: acceso, seguridad y descarga.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02 · Visitar: cartera, misiones y oportunidades.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03 · Vender: pedido, descuentos y confirmación.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4748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04   04 · Resolver: entregas, equipos y requerimientos.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01 · PREPARAR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Antes de salir, deja todo listo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La preparación comienza con tu dispositivo.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Correo corporativo activo y contraseña vigente.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Intune / Portal de Empresas y Authenticator actualizados.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Huella configurada y ruta verificada.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01 · PREPARAR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Comprueba el estado de Intune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Una revisión breve antes de comenzar.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Abre Intune o Portal de Empresas.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Selecciona tu equipo y revisa la fecha de comprobación.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Si no está actualizada al mes en curso, pulsa «Comprobar configuración del dispositivo».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01 · PREPARAR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Descarga los datos de tu ruta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Haz la carga antes de salir.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Conéctate a internet y realiza la carga del día.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El material indica mantener conexión al menos 3 minutos.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La carga incluye los clientes de toda la ruta.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01 · PREPARAR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¿Listo para salir?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Marca los pasos que ya verificaste.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Correo y acceso operativos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Estado de Intune revisado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Huella configurada y ruta correcta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4748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04   Carga del día realizada con internet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02 · VISITAR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Empieza con una visión del día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Prioriza con información de metas y entregas.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Consulta el avance de presupuesto y la tendencia en Power BI.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Revisa las entregas programadas y su estado.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Usa el buscador y consulta la información de transporte.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02 · VISITAR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Encuentra al cliente que necesita gestión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Los filtros ayudan a priorizar tu cartera.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No gestionados: sin pedido ni motivo de no venta ingresado por Mi Market.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Sin compra: sin compra ingresada por Mi Market.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Con compra: clientes con compra registrada.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02 · VISITAR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Lee las señales antes de actuar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La ficha del cliente entrega contexto.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Distingue bloqueo parcial de bloqueo general / suspendido.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Revisa misiones guiadas y estado del censo de equipos de frío.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Consulta NPS, datos de registro y dirección del cliente.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02 · VISITAR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Convierte una misión en una 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Revisa, acepta y guarda las misiones asignadas por RTM.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Cliente nuevo en ruta o cliente sin compra con equipo de frío.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Oportunidades de instalación de equipos de frío.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Oportunidades de venta por segmentos.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02 · VISITAR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Amplía el surtido con intención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Combinadas y Foto de éxito muestran oportunidades.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Revisa los productos faltantes y el avance.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En Combinadas, consulta también el avance por categoría.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Agrega o elimina productos del carrito según la oportunidad.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03 · VENDER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Arma el pedido desde lo habitual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El pedido sugerido facilita la conversación.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Parte de los formatos y volúmenes que el cliente compra habitualmente.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Evalúa complementos según clientes similares y nuevos desarrollos.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Ajusta la propuesta con el cliente antes de confirmar.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03 · VENDER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Revisa descuentos y condiciones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Aclara las condiciones antes de cerrar.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Clickeables: activa o desactiva descuentos en línea.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Pulsa aceptar y guardar después de la selección.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Consulta las vías de pago y los montos disponibles por categoría.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03 · VENDER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Cierra el pedido con certeza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Ingresar el pedido y confirmarlo son momentos distintos.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Puedes ingresar una orden de compra que se reflejará en la factura.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Confirma el pedido y obtén su número.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Pide al cliente confirmar en Mi Andina para que sea un pedido digital.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¿Este pedido ya es digital?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Ingresaste y confirmaste el pedido en Mi Market, pero el cliente aún no lo confirma en Mi Andina.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Sí, porque ya tiene número de pedido.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No; falta la confirmación del cliente en Mi Andina.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Sí, si se usó el pedido sugerido.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03 · VENDER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Si no hay venta, registra el motivo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La visita también debe quedar gestionada.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Ingresa a la ficha del cliente.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Selecciona el motivo de no venta.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Pulsa «Guardar y continuar».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04 · RESOLVER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Sigue lo que ya se vendió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Consulta pedidos realizados de los últimos 60 días.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Revisa el estado, el detalle y los productos.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Puedes repetir pedidos desde el historial.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Puedes cancelar pedidos que no se hayan cuotificado.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04 · RESOLVER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Gestiona los equipos de frío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El censo y el retiro tienen pasos distintos.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Consulta los equipos cargados al cliente en SAP.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Censa los equipos encontrados; los no censados se enviarán como «Equipo no encontrado».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Si no puedes censar, registra un motivo de no censo.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04 · RESOLVER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Crea requerimientos que se puedan resolver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El historial muestra los últimos 30 días.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Incluye todos los detalles necesarios para atender el caso.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Para servicio técnico: código y contacto del cliente.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Agrega horario, referencias, marca, serie del equipo y motivo.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Te quedaste sin internet. ¿Qué haces?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Ya realizaste la carga del día. Necesitas registrar una visita sin venta.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Registro el motivo de no venta.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Confirmo que todas las funciones están disponibles sin conexión.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Asumo que también puedo completar cualquier pedido.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04 · RESOLVER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Sin conexión: conoce el alcance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Funciones offline descritas en el material.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Acceso con datos biométricos y cartera de clientes.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Información básica de clientes y programación de entrega.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Registro de motivos de no venta.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1B39"/>
                </a:solidFill>
                <a:latin typeface="Aptos"/>
              </a:defRPr>
            </a:pPr>
            <a:r>
              <a:t>mi market / CAPACITACIÓN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1B39"/>
                </a:solidFill>
                <a:latin typeface="Aptos"/>
              </a:defRPr>
            </a:pPr>
            <a: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238"/>
                </a:solidFill>
                <a:latin typeface="Aptos"/>
              </a:defRPr>
            </a:pPr>
            <a:r>
              <a:t>Una buena visita deja un próximo 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7184"/>
                </a:solidFill>
                <a:latin typeface="Aptos"/>
              </a:defRPr>
            </a:pPr>
            <a:r>
              <a:t>Recorre el ciclo completo con tu equipo.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01   Prepara: acceso, ruta y carga del día.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02   Visita: revisa señales, misiones y oportunidades.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6227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03   Gestiona: confirma el pedido o registra el motivo de no venta.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4748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238"/>
                </a:solidFill>
                <a:latin typeface="Aptos"/>
              </a:defRPr>
            </a:pPr>
            <a:r>
              <a:t>04   Da seguimiento: entrega, equipos o requerimientos.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87184"/>
                </a:solidFill>
                <a:latin typeface="Aptos"/>
              </a:defRPr>
            </a:pPr>
            <a:r>
              <a:t>MI MARKET  ·  FORMACIÓN DE VENDEDORES  ·  MATERIAL DE REVISIÓN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91B39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1 del material original</a:t>
            </a:r>
          </a:p>
        </p:txBody>
      </p:sp>
      <p:pic>
        <p:nvPicPr>
          <p:cNvPr id="3" name="Picture 2" descr="original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2 del material original</a:t>
            </a:r>
          </a:p>
        </p:txBody>
      </p:sp>
      <p:pic>
        <p:nvPicPr>
          <p:cNvPr id="3" name="Picture 2" descr="original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3 del material original</a:t>
            </a:r>
          </a:p>
        </p:txBody>
      </p:sp>
      <p:pic>
        <p:nvPicPr>
          <p:cNvPr id="3" name="Picture 2" descr="original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4 del material original</a:t>
            </a:r>
          </a:p>
        </p:txBody>
      </p:sp>
      <p:pic>
        <p:nvPicPr>
          <p:cNvPr id="3" name="Picture 2" descr="original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5 del material original</a:t>
            </a:r>
          </a:p>
        </p:txBody>
      </p:sp>
      <p:pic>
        <p:nvPicPr>
          <p:cNvPr id="3" name="Picture 2" descr="original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6 del material original</a:t>
            </a:r>
          </a:p>
        </p:txBody>
      </p:sp>
      <p:pic>
        <p:nvPicPr>
          <p:cNvPr id="3" name="Picture 2" descr="original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7 del material original</a:t>
            </a:r>
          </a:p>
        </p:txBody>
      </p:sp>
      <p:pic>
        <p:nvPicPr>
          <p:cNvPr id="3" name="Picture 2" descr="original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8 del material original</a:t>
            </a:r>
          </a:p>
        </p:txBody>
      </p:sp>
      <p:pic>
        <p:nvPicPr>
          <p:cNvPr id="3" name="Picture 2" descr="original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9 del material original</a:t>
            </a:r>
          </a:p>
        </p:txBody>
      </p:sp>
      <p:pic>
        <p:nvPicPr>
          <p:cNvPr id="3" name="Picture 2" descr="original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10 del material original</a:t>
            </a:r>
          </a:p>
        </p:txBody>
      </p:sp>
      <p:pic>
        <p:nvPicPr>
          <p:cNvPr id="3" name="Picture 2" descr="original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11 del material original</a:t>
            </a:r>
          </a:p>
        </p:txBody>
      </p:sp>
      <p:pic>
        <p:nvPicPr>
          <p:cNvPr id="3" name="Picture 2" descr="original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12 del material original</a:t>
            </a:r>
          </a:p>
        </p:txBody>
      </p:sp>
      <p:pic>
        <p:nvPicPr>
          <p:cNvPr id="3" name="Picture 2" descr="original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13 del material original</a:t>
            </a:r>
          </a:p>
        </p:txBody>
      </p:sp>
      <p:pic>
        <p:nvPicPr>
          <p:cNvPr id="3" name="Picture 2" descr="original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14 del material original</a:t>
            </a:r>
          </a:p>
        </p:txBody>
      </p:sp>
      <p:pic>
        <p:nvPicPr>
          <p:cNvPr id="3" name="Picture 2" descr="original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15 del material original</a:t>
            </a:r>
          </a:p>
        </p:txBody>
      </p:sp>
      <p:pic>
        <p:nvPicPr>
          <p:cNvPr id="3" name="Picture 2" descr="original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16 del material original</a:t>
            </a:r>
          </a:p>
        </p:txBody>
      </p:sp>
      <p:pic>
        <p:nvPicPr>
          <p:cNvPr id="3" name="Picture 2" descr="original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17 del material original</a:t>
            </a:r>
          </a:p>
        </p:txBody>
      </p:sp>
      <p:pic>
        <p:nvPicPr>
          <p:cNvPr id="3" name="Picture 2" descr="original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18 del material original</a:t>
            </a:r>
          </a:p>
        </p:txBody>
      </p:sp>
      <p:pic>
        <p:nvPicPr>
          <p:cNvPr id="3" name="Picture 2" descr="original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19 del material original</a:t>
            </a:r>
          </a:p>
        </p:txBody>
      </p:sp>
      <p:pic>
        <p:nvPicPr>
          <p:cNvPr id="3" name="Picture 2" descr="original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20 del material original</a:t>
            </a:r>
          </a:p>
        </p:txBody>
      </p:sp>
      <p:pic>
        <p:nvPicPr>
          <p:cNvPr id="3" name="Picture 2" descr="original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21 del material original</a:t>
            </a:r>
          </a:p>
        </p:txBody>
      </p:sp>
      <p:pic>
        <p:nvPicPr>
          <p:cNvPr id="3" name="Picture 2" descr="original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22 del material original</a:t>
            </a:r>
          </a:p>
        </p:txBody>
      </p:sp>
      <p:pic>
        <p:nvPicPr>
          <p:cNvPr id="3" name="Picture 2" descr="original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23 del material original</a:t>
            </a:r>
          </a:p>
        </p:txBody>
      </p:sp>
      <p:pic>
        <p:nvPicPr>
          <p:cNvPr id="3" name="Picture 2" descr="original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1B39"/>
                </a:solidFill>
                <a:latin typeface="Aptos"/>
              </a:defRPr>
            </a:pPr>
            <a:r>
              <a:t>REFERENCIA VISUAL · Página 24 del material original</a:t>
            </a:r>
          </a:p>
        </p:txBody>
      </p:sp>
      <p:pic>
        <p:nvPicPr>
          <p:cNvPr id="3" name="Picture 2" descr="original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